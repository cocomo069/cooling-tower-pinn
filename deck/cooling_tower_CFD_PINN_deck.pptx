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323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Hot-Air Recirculation in a Cooling-Tower Array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49808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steady RANS parametric study and a physics-informed field surrogate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49808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Fluid Dynamics</a:t>
            </a:r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400" dirty="0">
                <a:solidFill>
                  <a:srgbClr val="8FB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Machine Learning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hot-air recirculation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plumes bend back onto neighbouring intakes, the whole plant loses cooling capacity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94360" y="1600200"/>
            <a:ext cx="5577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towers reject heat by discharging warm air upward.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tight array, wind can bend one unit’s plume down onto the intakes of the next.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Ingested exhaust raises intake temperature and cuts thermal capacity.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outcome is a tug-of-war: buoyancy lifts the plume, wind bends it over.</a:t>
            </a:r>
            <a:endParaRPr lang="en-US" sz="1600" dirty="0"/>
          </a:p>
        </p:txBody>
      </p:sp>
      <p:pic>
        <p:nvPicPr>
          <p:cNvPr id="5" name="Image 0" descr="/sessions/nifty-happy-einstein/mnt/chiller_airflow_modeling_godela/cooling_tower_plume_pinn/figures/fig_schema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828800"/>
            <a:ext cx="5212080" cy="19933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0" y="3840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and elevation of the six-unit array in a crosswind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Approach: from solver to a fast field model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CFD sweep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steady RANS cases in ANSYS Fluent over wind speed and discharge velocity, with buoyancy.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995928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148840"/>
            <a:ext cx="777240" cy="777240"/>
          </a:xfrm>
          <a:prstGeom prst="ellipse">
            <a:avLst/>
          </a:prstGeom>
          <a:solidFill>
            <a:srgbClr val="0B3C5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7200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data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3D velocity and temperature extracted per case, plus per-tower recirculation.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699248" y="30175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001000" y="182880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214884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148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75320" y="30632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surrogate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75320" y="370332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maps operating point to the full field, constrained to conserve mass.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5257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geometry across the sweep, so the surrogate sees a single consistent domain.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and the mesh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737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94360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cooling-tower cells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0" y="1737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8328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105,676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383280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tetrahedral cells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172200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 per case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961120" y="173736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0" y="19659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&lt;0.1%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961120" y="2624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balance error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109728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 x 140 x 80 m atmospheric block, wind along +x.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Towers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x 12 m footprint, 10 m tall, three columns by two rows.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realizable k-epsilon, incompressible-ideal-gas density under gravity.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 K warm air into a 298 K ambient.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 sweep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operating points spanning the wind and discharge design space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7498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371600"/>
                <a:gridCol w="1554480"/>
                <a:gridCol w="1005840"/>
                <a:gridCol w="1280160"/>
                <a:gridCol w="12801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 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/ 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RC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Worst RC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9496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Units: m/s. RC is the intake temperature rise as a fraction of the discharge excess.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8458200" y="1783080"/>
            <a:ext cx="3154680" cy="356616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variable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0" y="24688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/ U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686800" y="3200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plume bend-over ratio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0" y="374904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V/U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bends plumes onto intakes.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V/U </a:t>
            </a:r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plumes rise clear.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fields: the regime change</a:t>
            </a:r>
            <a:endParaRPr lang="en-US" sz="3000" dirty="0"/>
          </a:p>
        </p:txBody>
      </p:sp>
      <p:pic>
        <p:nvPicPr>
          <p:cNvPr id="3" name="Image 0" descr="/sessions/nifty-happy-einstein/mnt/chiller_airflow_modeling_godela/cooling_tower_plume_pinn/figures/pv_c3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22128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393192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Wind-dominated (c3): plumes bend over and warm the downwind wake</a:t>
            </a:r>
            <a:endParaRPr lang="en-US" sz="1300" dirty="0"/>
          </a:p>
        </p:txBody>
      </p:sp>
      <p:pic>
        <p:nvPicPr>
          <p:cNvPr id="5" name="Image 1" descr="/sessions/nifty-happy-einstein/mnt/chiller_airflow_modeling_godela/cooling_tower_plume_pinn/figures/pv_c5_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91640"/>
            <a:ext cx="5532120" cy="22128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63640" y="3931920"/>
            <a:ext cx="5532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Buoyancy-dominated (c5): plumes rise steeply, intakes stay cool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geometry, opposite outcome: the wind-to-plume balance decides whether exhaust is re-ingested.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Flow diagnostics (wind-dominated case)</a:t>
            </a:r>
            <a:endParaRPr lang="en-US" sz="3000" dirty="0"/>
          </a:p>
        </p:txBody>
      </p:sp>
      <p:pic>
        <p:nvPicPr>
          <p:cNvPr id="3" name="Image 0" descr="/sessions/nifty-happy-einstein/mnt/chiller_airflow_modeling_godela/cooling_tower_plume_pinn/figures/pv_c3_Um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4290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0" y="21488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magnitude</a:t>
            </a:r>
            <a:endParaRPr lang="en-US" sz="1100" dirty="0"/>
          </a:p>
        </p:txBody>
      </p:sp>
      <p:pic>
        <p:nvPicPr>
          <p:cNvPr id="5" name="Image 1" descr="/sessions/nifty-happy-einstein/mnt/chiller_airflow_modeling_godela/cooling_tower_plume_pinn/figures/pv_c3_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82112"/>
            <a:ext cx="3429000" cy="1371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14800" y="368503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pressure</a:t>
            </a:r>
            <a:endParaRPr lang="en-US" sz="1100" dirty="0"/>
          </a:p>
        </p:txBody>
      </p:sp>
      <p:pic>
        <p:nvPicPr>
          <p:cNvPr id="7" name="Image 2" descr="/sessions/nifty-happy-einstein/mnt/chiller_airflow_modeling_godela/cooling_tower_plume_pinn/figures/pv_c3_T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18304"/>
            <a:ext cx="3429000" cy="1371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14800" y="52212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Turbulent kinetic energy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212080" y="219456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Wakes 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low-speed recirculation forms right behind each tower.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stagnation high on the windward face, suction lows in the wakes.</a:t>
            </a:r>
            <a:endParaRPr lang="en-US" sz="1600" dirty="0"/>
          </a:p>
          <a:p>
            <a:pPr indent="0" marL="0">
              <a:spcAft>
                <a:spcPts val="1600"/>
              </a:spcAft>
              <a:buNone/>
            </a:pPr>
            <a:r>
              <a:rPr lang="en-US" sz="16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Turbulence  </a:t>
            </a:r>
            <a:pPr indent="0" marL="0">
              <a:spcAft>
                <a:spcPts val="1600"/>
              </a:spcAft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concentrates in the plume shear layers, where entrainment is strongest.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Recirculation follows the bend-over ratio</a:t>
            </a:r>
            <a:endParaRPr lang="en-US" sz="3000" dirty="0"/>
          </a:p>
        </p:txBody>
      </p:sp>
      <p:pic>
        <p:nvPicPr>
          <p:cNvPr id="3" name="Image 0" descr="/sessions/nifty-happy-einstein/mnt/chiller_airflow_modeling_godela/cooling_tower_plume_pinn/figures/fig_rc_vs_rat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37360"/>
            <a:ext cx="5760720" cy="41532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766560" y="182880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766560" y="20574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1.62%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766560" y="27157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worst-tower recirculation (strong wind, c3)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66560" y="3566160"/>
            <a:ext cx="4846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37947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0.14%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6766560" y="44531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mean, strong plume in light wind (c5)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766560" y="52578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magnitudes for a well-spaced generic array, but the ordering is unambiguous and physical.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surrogate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an unseen operating point’s full field in milliseconds</a:t>
            </a:r>
            <a:endParaRPr lang="en-US" sz="1500" dirty="0"/>
          </a:p>
        </p:txBody>
      </p:sp>
      <p:pic>
        <p:nvPicPr>
          <p:cNvPr id="4" name="Image 0" descr="/sessions/nifty-happy-einstein/mnt/chiller_airflow_modeling_godela/cooling_tower_plume_pinn/figures/fig_pinn_parity_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83080"/>
            <a:ext cx="3566160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1828800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(x, y, z, wind, discharge) to the velocity and temperature field.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Fourier features let a small network capture sharp plume gradients.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mass-conservation (divergence-free) term is built into the loss.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six cases; the centre case was held out entirely.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686800" y="182880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0" y="2057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1.62 K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8686800" y="271576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RMSE, unseen case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352044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DE5EC"/>
            </a:solidFill>
            <a:prstDash val="solid"/>
          </a:ln>
          <a:effectLst>
            <a:outerShdw sx="100000" sy="100000" kx="0" ky="0" algn="bl" rotWithShape="0" blurRad="76200" dist="25400" dir="5400000">
              <a:srgbClr val="9AAAB8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686800" y="3749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8686800" y="44074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vs a solver run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5440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0.76 on temperature for an operating point the model never saw.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515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Recirculation tracks the wind-to-plume balance: worst near 1.6%, best under 0.2%.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converged 7-case CFD sweep, mass and energy balanced to better than 0.1%.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physics-constrained surrogate reproduces an unseen field to 1.6 K in milliseconds.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pipeline, CFD to constrained learning, on a data-centre-adjacent thermal problem.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coarse mesh with wall functions, steady RANS time-averaging, and a divergence constraint that is only part of the governing physics. Magnitudes are indicative; the trends and the workflow are the result.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2026-08-04T11:58:02Z</dcterms:created>
  <dcterms:modified xsi:type="dcterms:W3CDTF">2026-08-04T11:58:02Z</dcterms:modified>
</cp:coreProperties>
</file>